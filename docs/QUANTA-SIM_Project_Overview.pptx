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4.png"/><Relationship Id="rId18" Type="http://schemas.openxmlformats.org/officeDocument/2006/relationships/image" Target="../media/image78.png"/><Relationship Id="rId3" Type="http://schemas.openxmlformats.org/officeDocument/2006/relationships/image" Target="../media/image65.png"/><Relationship Id="rId21" Type="http://schemas.openxmlformats.org/officeDocument/2006/relationships/image" Target="../media/image80.png"/><Relationship Id="rId7" Type="http://schemas.openxmlformats.org/officeDocument/2006/relationships/image" Target="../media/image69.png"/><Relationship Id="rId12" Type="http://schemas.openxmlformats.org/officeDocument/2006/relationships/image" Target="../media/image73.png"/><Relationship Id="rId17" Type="http://schemas.openxmlformats.org/officeDocument/2006/relationships/image" Target="../media/image77.png"/><Relationship Id="rId2" Type="http://schemas.openxmlformats.org/officeDocument/2006/relationships/image" Target="../media/image1.png"/><Relationship Id="rId16" Type="http://schemas.openxmlformats.org/officeDocument/2006/relationships/image" Target="../media/image76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11" Type="http://schemas.openxmlformats.org/officeDocument/2006/relationships/image" Target="../media/image72.png"/><Relationship Id="rId5" Type="http://schemas.openxmlformats.org/officeDocument/2006/relationships/image" Target="../media/image67.png"/><Relationship Id="rId15" Type="http://schemas.openxmlformats.org/officeDocument/2006/relationships/image" Target="../media/image75.png"/><Relationship Id="rId23" Type="http://schemas.openxmlformats.org/officeDocument/2006/relationships/image" Target="../media/image82.png"/><Relationship Id="rId10" Type="http://schemas.openxmlformats.org/officeDocument/2006/relationships/image" Target="../media/image23.png"/><Relationship Id="rId19" Type="http://schemas.openxmlformats.org/officeDocument/2006/relationships/image" Target="../media/image79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26.png"/><Relationship Id="rId22" Type="http://schemas.openxmlformats.org/officeDocument/2006/relationships/image" Target="../media/image8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33.png"/><Relationship Id="rId7" Type="http://schemas.openxmlformats.org/officeDocument/2006/relationships/image" Target="../media/image9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90.png"/><Relationship Id="rId10" Type="http://schemas.openxmlformats.org/officeDocument/2006/relationships/image" Target="../media/image94.png"/><Relationship Id="rId4" Type="http://schemas.openxmlformats.org/officeDocument/2006/relationships/image" Target="../media/image89.png"/><Relationship Id="rId9" Type="http://schemas.openxmlformats.org/officeDocument/2006/relationships/image" Target="../media/image9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100.png"/><Relationship Id="rId7" Type="http://schemas.openxmlformats.org/officeDocument/2006/relationships/image" Target="../media/image7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10" Type="http://schemas.openxmlformats.org/officeDocument/2006/relationships/image" Target="../media/image106.png"/><Relationship Id="rId4" Type="http://schemas.openxmlformats.org/officeDocument/2006/relationships/image" Target="../media/image101.png"/><Relationship Id="rId9" Type="http://schemas.openxmlformats.org/officeDocument/2006/relationships/image" Target="../media/image10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openxmlformats.org/officeDocument/2006/relationships/image" Target="../media/image107.png"/><Relationship Id="rId7" Type="http://schemas.openxmlformats.org/officeDocument/2006/relationships/image" Target="../media/image1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7" Type="http://schemas.openxmlformats.org/officeDocument/2006/relationships/image" Target="../media/image1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4" Type="http://schemas.openxmlformats.org/officeDocument/2006/relationships/image" Target="../media/image8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.png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13" Type="http://schemas.openxmlformats.org/officeDocument/2006/relationships/image" Target="../media/image139.png"/><Relationship Id="rId3" Type="http://schemas.openxmlformats.org/officeDocument/2006/relationships/image" Target="../media/image131.png"/><Relationship Id="rId7" Type="http://schemas.openxmlformats.org/officeDocument/2006/relationships/image" Target="../media/image134.png"/><Relationship Id="rId12" Type="http://schemas.openxmlformats.org/officeDocument/2006/relationships/image" Target="../media/image138.png"/><Relationship Id="rId17" Type="http://schemas.openxmlformats.org/officeDocument/2006/relationships/image" Target="../media/image143.png"/><Relationship Id="rId2" Type="http://schemas.openxmlformats.org/officeDocument/2006/relationships/image" Target="../media/image1.png"/><Relationship Id="rId16" Type="http://schemas.openxmlformats.org/officeDocument/2006/relationships/image" Target="../media/image1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11" Type="http://schemas.openxmlformats.org/officeDocument/2006/relationships/image" Target="../media/image137.png"/><Relationship Id="rId5" Type="http://schemas.openxmlformats.org/officeDocument/2006/relationships/image" Target="../media/image132.png"/><Relationship Id="rId15" Type="http://schemas.openxmlformats.org/officeDocument/2006/relationships/image" Target="../media/image141.png"/><Relationship Id="rId10" Type="http://schemas.openxmlformats.org/officeDocument/2006/relationships/image" Target="../media/image136.png"/><Relationship Id="rId4" Type="http://schemas.openxmlformats.org/officeDocument/2006/relationships/image" Target="../media/image20.png"/><Relationship Id="rId9" Type="http://schemas.openxmlformats.org/officeDocument/2006/relationships/image" Target="../media/image102.png"/><Relationship Id="rId14" Type="http://schemas.openxmlformats.org/officeDocument/2006/relationships/image" Target="../media/image1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3" Type="http://schemas.openxmlformats.org/officeDocument/2006/relationships/image" Target="../media/image45.png"/><Relationship Id="rId7" Type="http://schemas.openxmlformats.org/officeDocument/2006/relationships/image" Target="../media/image1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47.png"/><Relationship Id="rId10" Type="http://schemas.openxmlformats.org/officeDocument/2006/relationships/image" Target="../media/image151.png"/><Relationship Id="rId4" Type="http://schemas.openxmlformats.org/officeDocument/2006/relationships/image" Target="../media/image146.png"/><Relationship Id="rId9" Type="http://schemas.openxmlformats.org/officeDocument/2006/relationships/image" Target="../media/image15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2.png"/><Relationship Id="rId7" Type="http://schemas.openxmlformats.org/officeDocument/2006/relationships/image" Target="../media/image155.png"/><Relationship Id="rId12" Type="http://schemas.openxmlformats.org/officeDocument/2006/relationships/image" Target="../media/image9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4.png"/><Relationship Id="rId11" Type="http://schemas.openxmlformats.org/officeDocument/2006/relationships/image" Target="../media/image93.png"/><Relationship Id="rId5" Type="http://schemas.openxmlformats.org/officeDocument/2006/relationships/image" Target="../media/image153.png"/><Relationship Id="rId10" Type="http://schemas.openxmlformats.org/officeDocument/2006/relationships/image" Target="../media/image92.png"/><Relationship Id="rId4" Type="http://schemas.openxmlformats.org/officeDocument/2006/relationships/image" Target="../media/image33.png"/><Relationship Id="rId9" Type="http://schemas.openxmlformats.org/officeDocument/2006/relationships/image" Target="../media/image9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8.png"/><Relationship Id="rId4" Type="http://schemas.openxmlformats.org/officeDocument/2006/relationships/image" Target="../media/image15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/><Relationship Id="rId3" Type="http://schemas.openxmlformats.org/officeDocument/2006/relationships/image" Target="../media/image100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1.png"/><Relationship Id="rId5" Type="http://schemas.openxmlformats.org/officeDocument/2006/relationships/image" Target="../media/image160.png"/><Relationship Id="rId10" Type="http://schemas.openxmlformats.org/officeDocument/2006/relationships/image" Target="../media/image164.png"/><Relationship Id="rId4" Type="http://schemas.openxmlformats.org/officeDocument/2006/relationships/image" Target="../media/image159.png"/><Relationship Id="rId9" Type="http://schemas.openxmlformats.org/officeDocument/2006/relationships/image" Target="../media/image16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6.png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3" Type="http://schemas.openxmlformats.org/officeDocument/2006/relationships/image" Target="../media/image170.png"/><Relationship Id="rId7" Type="http://schemas.openxmlformats.org/officeDocument/2006/relationships/image" Target="../media/image17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71.png"/><Relationship Id="rId9" Type="http://schemas.openxmlformats.org/officeDocument/2006/relationships/image" Target="../media/image17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77.png"/><Relationship Id="rId4" Type="http://schemas.openxmlformats.org/officeDocument/2006/relationships/image" Target="../media/image1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961257"/>
            <a:ext cx="3061096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506217"/>
            <a:ext cx="1800225" cy="390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6500" y="4506217"/>
            <a:ext cx="2190750" cy="3905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0125" y="4506217"/>
            <a:ext cx="1885950" cy="3905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2494657"/>
            <a:ext cx="9001125" cy="118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sz="4050" b="0" i="0" u="none">
                <a:solidFill>
                  <a:srgbClr val="FFFFFF"/>
                </a:solidFill>
                <a:latin typeface="Outfit ExtraBold"/>
              </a:rPr>
              <a:t>QUANTA-SIM: Quantum Circuit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868042"/>
            <a:ext cx="8572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Simulating Photonic Interference &amp; Linear Optical Transformations through Quantum Circuits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" y="2046982"/>
            <a:ext cx="144065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4630042"/>
            <a:ext cx="14287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76525" y="4630042"/>
            <a:ext cx="18097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0150" y="4630042"/>
            <a:ext cx="161925" cy="1428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353800" y="6238875"/>
            <a:ext cx="3048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Fira Code"/>
              </a:rPr>
              <a:t>1/31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493764"/>
            <a:ext cx="3555950" cy="24800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950" y="2493764"/>
            <a:ext cx="3555950" cy="24800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500" y="2493764"/>
            <a:ext cx="3556099" cy="24800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438150"/>
            <a:ext cx="1973527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Outfit"/>
              </a:rPr>
              <a:t>The Big Idea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3195" y="490537"/>
            <a:ext cx="615404" cy="2762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33400" y="819150"/>
            <a:ext cx="114300" cy="2286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75" y="2750939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0575" y="3379589"/>
            <a:ext cx="319368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Core 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575" y="3712964"/>
            <a:ext cx="3041600" cy="1003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A specialized simulation framework designed for studying how individual photons evolve and interfere through complex optical systems.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5125" y="2750939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5125" y="3379589"/>
            <a:ext cx="319368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Integrated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5125" y="3712964"/>
            <a:ext cx="3041600" cy="1003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Combines physical photonic interference with rigorous mathematical modeling and digital quantum-circuit simulation.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9675" y="2750939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59675" y="3379589"/>
            <a:ext cx="319383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Primary Objective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9675" y="3712964"/>
            <a:ext cx="3041749" cy="1003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Allows users to construct small optical systems, simulate physical quantum behavior, and visually inspect output probability distributions.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737" y="2884289"/>
            <a:ext cx="142875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8475" y="2884289"/>
            <a:ext cx="190500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3025" y="2884289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525"/>
            <a:ext cx="2762250" cy="2000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400" y="1823591"/>
            <a:ext cx="2751593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Outfit"/>
              </a:rPr>
              <a:t>Why This Project?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720" y="1875978"/>
            <a:ext cx="615404" cy="276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00" y="2395091"/>
            <a:ext cx="477202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F1F5F9"/>
                </a:solidFill>
                <a:latin typeface="Plus Jakarta Sans SemiBold"/>
              </a:rPr>
              <a:t>Intuitive Learning: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Quantum interference is counter-intuitive and difficult to grasp using mathematical equations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3030289"/>
            <a:ext cx="4772025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F1F5F9"/>
                </a:solidFill>
                <a:latin typeface="Plus Jakarta Sans SemiBold"/>
              </a:rPr>
              <a:t>Hardware Accessibility: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Real photonic quantum experiments demand expensive, specialized optical hardware and cleanroom setups.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3916412"/>
            <a:ext cx="477202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F1F5F9"/>
                </a:solidFill>
                <a:latin typeface="Plus Jakarta Sans SemiBold"/>
              </a:rPr>
              <a:t>Controlled Environment: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A computational simulator enables flexible experiments by tuning parameters dynamically.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4551610"/>
            <a:ext cx="477202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F1F5F9"/>
                </a:solidFill>
                <a:latin typeface="Plus Jakarta Sans SemiBold"/>
              </a:rPr>
              <a:t>Academic Bridge: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Connects core computer science skills directly with modern quantum optics and physics.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2204591"/>
            <a:ext cx="114300" cy="2286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414141"/>
            <a:ext cx="8572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049339"/>
            <a:ext cx="8572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935462"/>
            <a:ext cx="8572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4570660"/>
            <a:ext cx="857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390352"/>
            <a:ext cx="3555950" cy="222914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950" y="1390352"/>
            <a:ext cx="3555950" cy="222914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500" y="1390352"/>
            <a:ext cx="3556099" cy="222914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848100"/>
            <a:ext cx="3555950" cy="222914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3848100"/>
            <a:ext cx="3555950" cy="222914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2500" y="3848100"/>
            <a:ext cx="3556099" cy="22291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438150"/>
            <a:ext cx="3576071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Outfit"/>
              </a:rPr>
              <a:t>What Are We Studying?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3195" y="490537"/>
            <a:ext cx="615404" cy="27622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33400" y="819150"/>
            <a:ext cx="114300" cy="2286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575" y="1647527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0575" y="2276177"/>
            <a:ext cx="319368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Photons &amp; Modes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575" y="2609552"/>
            <a:ext cx="304160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Tracking light quanta moving through distinct spatial or polarization optical paths.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5125" y="1647527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5125" y="2276177"/>
            <a:ext cx="319368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Quantum Superposition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5125" y="2609552"/>
            <a:ext cx="304160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Modeling photons simultaneously inhabiting multiple optical modes prior to measurement.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9675" y="1647527"/>
            <a:ext cx="457200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59675" y="2276177"/>
            <a:ext cx="319383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Complex Amplitudes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9675" y="2609552"/>
            <a:ext cx="3041749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Computing complex probability amplitudes that determine quantum state evolution.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4105275"/>
            <a:ext cx="457200" cy="457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90575" y="4733925"/>
            <a:ext cx="319368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Interference Patterns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575" y="5067300"/>
            <a:ext cx="304160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Analyzing constructive and destructive interference governing output probabilities.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5125" y="4105275"/>
            <a:ext cx="457200" cy="457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575125" y="4733925"/>
            <a:ext cx="319368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Unitary Matrices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5125" y="5067300"/>
            <a:ext cx="304160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Representing optical components mathematically as energy-conserving unitary operators.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9675" y="4105275"/>
            <a:ext cx="457200" cy="457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359675" y="4733925"/>
            <a:ext cx="319383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Multi-Mode Networks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9675" y="5067300"/>
            <a:ext cx="3041749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Simulating complex linear optical circuits with interconnected beamsplitters and phase shifts.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3925" y="1780877"/>
            <a:ext cx="190500" cy="1905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94187" y="1780877"/>
            <a:ext cx="219075" cy="1905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78738" y="1780877"/>
            <a:ext cx="219075" cy="1905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3925" y="4238625"/>
            <a:ext cx="190500" cy="1905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69213" y="4238625"/>
            <a:ext cx="23812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540793"/>
            <a:ext cx="5419725" cy="23860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2931318"/>
            <a:ext cx="5019675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438150"/>
            <a:ext cx="5493186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Outfit"/>
              </a:rPr>
              <a:t>What Is a Photonic Quantum System?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3195" y="490537"/>
            <a:ext cx="615404" cy="27622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33400" y="819150"/>
            <a:ext cx="114300" cy="2286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38900" y="3731418"/>
            <a:ext cx="50196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CBD5E1"/>
                </a:solidFill>
                <a:latin typeface="Plus Jakarta Sans SemiBold"/>
              </a:rPr>
              <a:t>Photonic State Vector 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8900" y="4093368"/>
            <a:ext cx="5019675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743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Transforming continuous electromagnetic fields into discrete quantum state representations.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2404616"/>
            <a:ext cx="515302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F1F5F9"/>
                </a:solidFill>
                <a:latin typeface="Plus Jakarta Sans SemiBold"/>
              </a:rPr>
              <a:t>Quantum Information Carriers: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Photons act as durable, low-noise qubits with long coherence times.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039814"/>
            <a:ext cx="515302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F1F5F9"/>
                </a:solidFill>
                <a:latin typeface="Plus Jakarta Sans SemiBold"/>
              </a:rPr>
              <a:t>Optical Modes: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Distinct physical paths, frequencies, or time bins are treated as individual quantum modes.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675012"/>
            <a:ext cx="515302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F1F5F9"/>
                </a:solidFill>
                <a:latin typeface="Plus Jakarta Sans SemiBold"/>
              </a:rPr>
              <a:t>Linear Transformations: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Passive components like beam splitters and phase shifters continuously transform the quantum state.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4310211"/>
            <a:ext cx="5153025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F1F5F9"/>
                </a:solidFill>
                <a:latin typeface="Plus Jakarta Sans SemiBold"/>
              </a:rPr>
              <a:t>Measurement Collapse: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Single-photon detectors collapse complex probability amplitudes into observable output count distributions.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2423666"/>
            <a:ext cx="85725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058864"/>
            <a:ext cx="85725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694062"/>
            <a:ext cx="85725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329261"/>
            <a:ext cx="857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478732"/>
            <a:ext cx="5419725" cy="250998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465189"/>
            <a:ext cx="5419725" cy="253722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75" y="3714005"/>
            <a:ext cx="4905375" cy="62909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6050" y="3700462"/>
            <a:ext cx="4905375" cy="6953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438150"/>
            <a:ext cx="5653206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Outfit"/>
              </a:rPr>
              <a:t>The Core Physics Behind QUANTA-SIM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3195" y="490537"/>
            <a:ext cx="615404" cy="27622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33400" y="819150"/>
            <a:ext cx="114300" cy="2286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0575" y="2735907"/>
            <a:ext cx="5150643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Mathematical Formalism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575" y="3069282"/>
            <a:ext cx="490537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A quantum state is mathematically represented as a normalized state vector within a Hilbert space.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575" y="4485977"/>
            <a:ext cx="4905375" cy="245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27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Optical components map directly to unitary matrices where 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6050" y="2722364"/>
            <a:ext cx="5150643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Born's Probability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6050" y="3055739"/>
            <a:ext cx="490537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Measurement probabilities are obtained directly from the squared magnitude of output state probability amplitudes: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6050" y="4538662"/>
            <a:ext cx="4905375" cy="2065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Ensures total probability across all detector outcomes sums strictly to 1.0.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6617" y="3914030"/>
            <a:ext cx="2033289" cy="229046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07817" y="4544020"/>
            <a:ext cx="151358" cy="1333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97325" y="4485977"/>
            <a:ext cx="719732" cy="191392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82669" y="3900487"/>
            <a:ext cx="2331987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924050"/>
            <a:ext cx="541972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173735"/>
            <a:ext cx="5419725" cy="6890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438150"/>
            <a:ext cx="3118827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Outfit"/>
              </a:rPr>
              <a:t>Beam Splitter Model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3195" y="490537"/>
            <a:ext cx="615404" cy="27622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33400" y="819150"/>
            <a:ext cx="114300" cy="2286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933575"/>
            <a:ext cx="5400675" cy="3600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0100" y="2461914"/>
            <a:ext cx="515302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F1F5F9"/>
                </a:solidFill>
                <a:latin typeface="Plus Jakarta Sans SemiBold"/>
              </a:rPr>
              <a:t>Mode Mixing: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A beam splitter mixes two optical modes, creating spatial superposition.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097113"/>
            <a:ext cx="515302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F1F5F9"/>
                </a:solidFill>
                <a:latin typeface="Plus Jakarta Sans SemiBold"/>
              </a:rPr>
              <a:t>50:50 Beam Splitter: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Distributes a single photon's probability amplitude equally between two output paths.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732311"/>
            <a:ext cx="5153025" cy="250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F1F5F9"/>
                </a:solidFill>
                <a:latin typeface="Plus Jakarta Sans SemiBold"/>
              </a:rPr>
              <a:t>Unitary Transformation: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Parameterized by transmissivity angle 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6518" y="4373760"/>
            <a:ext cx="1233487" cy="289024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2480964"/>
            <a:ext cx="8572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3116163"/>
            <a:ext cx="85725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3751361"/>
            <a:ext cx="85725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81650" y="3779936"/>
            <a:ext cx="100458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611189"/>
            <a:ext cx="5419725" cy="22452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654944"/>
            <a:ext cx="5419725" cy="21577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438150"/>
            <a:ext cx="3068821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Outfit"/>
              </a:rPr>
              <a:t>Phase Shifter Model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3195" y="490537"/>
            <a:ext cx="615404" cy="27622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33400" y="819150"/>
            <a:ext cx="114300" cy="2286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0575" y="2868364"/>
            <a:ext cx="5150643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Physical Principle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575" y="3201739"/>
            <a:ext cx="4905375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A phase shifter adjusts the optical path length or refractive index, delaying the phase of a quantum probability amplitude relative to other modes without altering single-mode intensity.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575" y="4097387"/>
            <a:ext cx="490537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Essential for tuning constructive or destructive interference when modes recombine down the 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6050" y="2912119"/>
            <a:ext cx="5150643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Matrix Representation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6050" y="3245494"/>
            <a:ext cx="4905375" cy="2518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Applies a complex phase factor to the target mode: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0" y="3245494"/>
            <a:ext cx="258365" cy="191392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4792" y="3887837"/>
            <a:ext cx="1207889" cy="3247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282529"/>
            <a:ext cx="11125200" cy="75054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938164"/>
            <a:ext cx="2531268" cy="105861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8043" y="2938164"/>
            <a:ext cx="2531268" cy="105861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687" y="2938164"/>
            <a:ext cx="2531268" cy="105861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7331" y="2938164"/>
            <a:ext cx="2531268" cy="10586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438150"/>
            <a:ext cx="4587917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Outfit"/>
              </a:rPr>
              <a:t>Mach–Zehnder Interferometer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3195" y="490537"/>
            <a:ext cx="615404" cy="2762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2434381"/>
            <a:ext cx="11125200" cy="2656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92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Combines two 50:50 beam splitters with an internal controllable phase shift to demonstrate optical interference.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400" y="819150"/>
            <a:ext cx="114300" cy="2286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0" y="2539156"/>
            <a:ext cx="120997" cy="1428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0575" y="4539704"/>
            <a:ext cx="10610850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sz="1200" b="0" i="0" u="none">
                <a:solidFill>
                  <a:srgbClr val="38BDF8"/>
                </a:solidFill>
                <a:latin typeface="Plus Jakarta Sans"/>
              </a:rPr>
              <a:t>Changing shifts output counts continuously between Detector 1 and Detector 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325" y="3138189"/>
            <a:ext cx="2207418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38BDF8"/>
                </a:solidFill>
                <a:latin typeface="Fira Code"/>
              </a:rPr>
              <a:t>STAGE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139" y="3357264"/>
            <a:ext cx="2317789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1F5F9"/>
                </a:solidFill>
                <a:latin typeface="Outfit"/>
              </a:rPr>
              <a:t>Beam Splitter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325" y="3604914"/>
            <a:ext cx="2207418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Splits input photon into 2 paths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78968" y="3395960"/>
            <a:ext cx="104775" cy="171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559968" y="3138189"/>
            <a:ext cx="2207418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38BDF8"/>
                </a:solidFill>
                <a:latin typeface="Fira Code"/>
              </a:rPr>
              <a:t>STAGE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4783" y="3357264"/>
            <a:ext cx="2317789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1F5F9"/>
                </a:solidFill>
                <a:latin typeface="Outfit"/>
              </a:rPr>
              <a:t>Phase Shift (φ)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9968" y="3604914"/>
            <a:ext cx="2207418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Applies relative phase delay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43612" y="3395960"/>
            <a:ext cx="104775" cy="1714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24612" y="3138189"/>
            <a:ext cx="2207418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38BDF8"/>
                </a:solidFill>
                <a:latin typeface="Fira Code"/>
              </a:rPr>
              <a:t>STAGE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9427" y="3357264"/>
            <a:ext cx="2317789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1F5F9"/>
                </a:solidFill>
                <a:latin typeface="Outfit"/>
              </a:rPr>
              <a:t>Beam Splitter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4612" y="3604914"/>
            <a:ext cx="2207418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Recombines phase-shifted paths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08256" y="3395960"/>
            <a:ext cx="104775" cy="1714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289256" y="3138189"/>
            <a:ext cx="2207418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38BDF8"/>
                </a:solidFill>
                <a:latin typeface="Fira Code"/>
              </a:rPr>
              <a:t>STAGE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4070" y="3357264"/>
            <a:ext cx="2317789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1F5F9"/>
                </a:solidFill>
                <a:latin typeface="Outfit"/>
              </a:rPr>
              <a:t>Measurement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9256" y="3604914"/>
            <a:ext cx="2207418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Detects final output probabilities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92301" y="4615904"/>
            <a:ext cx="120997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409402"/>
            <a:ext cx="2638425" cy="222914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2325" y="1409402"/>
            <a:ext cx="2638425" cy="222914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1409402"/>
            <a:ext cx="2638425" cy="222914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0175" y="1409402"/>
            <a:ext cx="2638425" cy="222914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829050"/>
            <a:ext cx="2638425" cy="222914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2325" y="3829050"/>
            <a:ext cx="2638425" cy="222914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3829050"/>
            <a:ext cx="2638425" cy="2229147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0175" y="3829050"/>
            <a:ext cx="2638425" cy="222914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438150"/>
            <a:ext cx="3833291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Outfit"/>
              </a:rPr>
              <a:t>What Are We Simulating?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60893" y="490537"/>
            <a:ext cx="697706" cy="27622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33400" y="819150"/>
            <a:ext cx="114300" cy="2286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575" y="1666577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0575" y="2295227"/>
            <a:ext cx="2230278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Single-Photon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575" y="2628602"/>
            <a:ext cx="2124075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Propagation through single optical paths and components.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9500" y="1666577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19500" y="2295227"/>
            <a:ext cx="2230278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Beam Splitters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9500" y="2628602"/>
            <a:ext cx="212407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50:50 and custom ratio mixing behaviors.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8425" y="1666577"/>
            <a:ext cx="457200" cy="457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48425" y="2295227"/>
            <a:ext cx="2230278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Interference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8425" y="2628602"/>
            <a:ext cx="212407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Phase-dependent fringe curves and visibility.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77350" y="1666577"/>
            <a:ext cx="457200" cy="457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77350" y="2295227"/>
            <a:ext cx="2230278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Interferometry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77350" y="2628602"/>
            <a:ext cx="212407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Complete Mach–Zehnder circuit simulations.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0575" y="4086225"/>
            <a:ext cx="457200" cy="457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90575" y="4714875"/>
            <a:ext cx="2230278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Multi-Mode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575" y="5048250"/>
            <a:ext cx="212407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Optical networks with 2 to 4 distinct modes.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19500" y="4086225"/>
            <a:ext cx="457200" cy="4572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619500" y="4714875"/>
            <a:ext cx="2230278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Two-Photon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9500" y="5048250"/>
            <a:ext cx="2124075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Basic Hong-Ou-Mandel style two-photon interference.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48425" y="4086225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448425" y="4714875"/>
            <a:ext cx="2230278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Noise Models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8425" y="5048250"/>
            <a:ext cx="212407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Phase drift and beam-splitter ratio imperfections.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77350" y="4086225"/>
            <a:ext cx="457200" cy="4572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277350" y="4714875"/>
            <a:ext cx="2230278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Quantum Circuits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77350" y="5048250"/>
            <a:ext cx="212407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Digital qubit analogue mappings in Qiskit.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7737" y="1799927"/>
            <a:ext cx="142875" cy="1905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762375" y="1799927"/>
            <a:ext cx="171450" cy="1905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57962" y="1799927"/>
            <a:ext cx="238125" cy="1905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10700" y="1799927"/>
            <a:ext cx="190500" cy="1905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00112" y="4219575"/>
            <a:ext cx="238125" cy="1905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729037" y="4219575"/>
            <a:ext cx="238125" cy="1905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81775" y="4219575"/>
            <a:ext cx="190500" cy="1905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410700" y="4219575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204418"/>
            <a:ext cx="1920180" cy="105861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580" y="3108573"/>
            <a:ext cx="1920180" cy="125045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5760" y="3108573"/>
            <a:ext cx="1920180" cy="125045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6941" y="3204418"/>
            <a:ext cx="1920180" cy="105861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8121" y="3204418"/>
            <a:ext cx="1920180" cy="10586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438150"/>
            <a:ext cx="5249562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Outfit"/>
              </a:rPr>
              <a:t>Single-Photon Simulation Workflow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60893" y="490537"/>
            <a:ext cx="697706" cy="2762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3400" y="819150"/>
            <a:ext cx="114300" cy="2286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5325" y="3404443"/>
            <a:ext cx="159633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38BDF8"/>
                </a:solidFill>
                <a:latin typeface="Fira Code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416" y="3623518"/>
            <a:ext cx="167614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1F5F9"/>
                </a:solidFill>
                <a:latin typeface="Outfit"/>
              </a:rPr>
              <a:t>Initialization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325" y="3871168"/>
            <a:ext cx="1596330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State vector input: |1,0›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7880" y="3662362"/>
            <a:ext cx="152400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996505" y="3308598"/>
            <a:ext cx="159633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38BDF8"/>
                </a:solidFill>
                <a:latin typeface="Fira Code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6597" y="3527673"/>
            <a:ext cx="167614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1F5F9"/>
                </a:solidFill>
                <a:latin typeface="Outfit"/>
              </a:rPr>
              <a:t>Unitary Cascade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6505" y="3775323"/>
            <a:ext cx="1596330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Apply optical matrices in series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9060" y="3662362"/>
            <a:ext cx="152400" cy="1714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97685" y="3308598"/>
            <a:ext cx="159633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38BDF8"/>
                </a:solidFill>
                <a:latin typeface="Fira Code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777" y="3527673"/>
            <a:ext cx="167614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1F5F9"/>
                </a:solidFill>
                <a:latin typeface="Outfit"/>
              </a:rPr>
              <a:t>State Compute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97685" y="3775323"/>
            <a:ext cx="1596330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Compute final state |ψ_final›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0241" y="3662362"/>
            <a:ext cx="152400" cy="1714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598866" y="3404443"/>
            <a:ext cx="159633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38BDF8"/>
                </a:solidFill>
                <a:latin typeface="Fira Code"/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8958" y="3623518"/>
            <a:ext cx="167614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1F5F9"/>
                </a:solidFill>
                <a:latin typeface="Outfit"/>
              </a:rPr>
              <a:t>Probabilities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98866" y="3871168"/>
            <a:ext cx="1596330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P_i = |α_i|²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1421" y="3662362"/>
            <a:ext cx="152400" cy="1714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900046" y="3404443"/>
            <a:ext cx="159633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38BDF8"/>
                </a:solidFill>
                <a:latin typeface="Fira Code"/>
              </a:rPr>
              <a:t>STEP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60138" y="3623518"/>
            <a:ext cx="167614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1F5F9"/>
                </a:solidFill>
                <a:latin typeface="Outfit"/>
              </a:rPr>
              <a:t>Visualization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0046" y="3871168"/>
            <a:ext cx="1596330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Plot output trends vs phase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540793"/>
            <a:ext cx="5419725" cy="23860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2931318"/>
            <a:ext cx="5019675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438150"/>
            <a:ext cx="579400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Outfit"/>
              </a:rPr>
              <a:t>Two-Photon Interference &amp; Fock States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0893" y="490537"/>
            <a:ext cx="697706" cy="27622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33400" y="819150"/>
            <a:ext cx="114300" cy="2286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38900" y="3731418"/>
            <a:ext cx="50196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CBD5E1"/>
                </a:solidFill>
                <a:latin typeface="Plus Jakarta Sans SemiBold"/>
              </a:rPr>
              <a:t>Coincidence Probability Drops to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8900" y="4093368"/>
            <a:ext cx="5019675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743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Fundamental proof of quantum indistinguishability simulated directly within QUANTA-SIM.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2847677"/>
            <a:ext cx="515302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F1F5F9"/>
                </a:solidFill>
                <a:latin typeface="Plus Jakarta Sans SemiBold"/>
              </a:rPr>
              <a:t>Occupation-Number (Fock) States: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Represents photon counts per mode, e.g., (1 photon per mode).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482875"/>
            <a:ext cx="515302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F1F5F9"/>
                </a:solidFill>
                <a:latin typeface="Plus Jakarta Sans SemiBold"/>
              </a:rPr>
              <a:t>Quantum Interference: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Identical photons impinging on a 50:50 beam splitter bunch together due to quantum statistics.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4118074"/>
            <a:ext cx="515302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F1F5F9"/>
                </a:solidFill>
                <a:latin typeface="Plus Jakarta Sans SemiBold"/>
              </a:rPr>
              <a:t>Output Configurations: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Evaluates probability distribution across states , , and 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2866727"/>
            <a:ext cx="8572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5450" y="3155751"/>
            <a:ext cx="722858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501925"/>
            <a:ext cx="85725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137124"/>
            <a:ext cx="85725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3975" y="4426148"/>
            <a:ext cx="722858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23033" y="4426148"/>
            <a:ext cx="722858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45941" y="4426148"/>
            <a:ext cx="722858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469927"/>
            <a:ext cx="1920180" cy="103137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580" y="3469927"/>
            <a:ext cx="1920180" cy="103137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5760" y="3565773"/>
            <a:ext cx="1920180" cy="83953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6941" y="3565773"/>
            <a:ext cx="1920180" cy="83953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8121" y="3565773"/>
            <a:ext cx="1920180" cy="8395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438150"/>
            <a:ext cx="5359576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Outfit"/>
              </a:rPr>
              <a:t>Optical Components to Math Models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60893" y="490537"/>
            <a:ext cx="697706" cy="2762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2966144"/>
            <a:ext cx="11125200" cy="2656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92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How QUANTA-SIM cascades individual optical component matrices into a single global unitary operator.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400" y="819150"/>
            <a:ext cx="114300" cy="2286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5416" y="3669952"/>
            <a:ext cx="167614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1F5F9"/>
                </a:solidFill>
                <a:latin typeface="Outfit"/>
              </a:rPr>
              <a:t>Optical Circuit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325" y="3917602"/>
            <a:ext cx="1596330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Sequence of physical optical elements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7880" y="3914179"/>
            <a:ext cx="152400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956597" y="3669952"/>
            <a:ext cx="167614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1F5F9"/>
                </a:solidFill>
                <a:latin typeface="Outfit"/>
              </a:rPr>
              <a:t>Component Matrices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6505" y="3917602"/>
            <a:ext cx="1596330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Individual 2x2 or NxN unitary matrices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9060" y="3914179"/>
            <a:ext cx="152400" cy="171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257777" y="3765798"/>
            <a:ext cx="167614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1F5F9"/>
                </a:solidFill>
                <a:latin typeface="Outfit"/>
              </a:rPr>
              <a:t>Total Unitary (U_total)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7685" y="4013448"/>
            <a:ext cx="1596330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U_total = U_n · ... · U_2 · U_1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0241" y="3914179"/>
            <a:ext cx="152400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558958" y="3765798"/>
            <a:ext cx="167614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1F5F9"/>
                </a:solidFill>
                <a:latin typeface="Outfit"/>
              </a:rPr>
              <a:t>Final State Vector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98866" y="4013448"/>
            <a:ext cx="1596330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|ψ_out› = U_total |ψ_in›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1421" y="3914179"/>
            <a:ext cx="152400" cy="1714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860138" y="3765798"/>
            <a:ext cx="167614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1F5F9"/>
                </a:solidFill>
                <a:latin typeface="Outfit"/>
              </a:rPr>
              <a:t>Output Probabilities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0046" y="4013448"/>
            <a:ext cx="1596330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P_i = |⟨i|ψ_out›|²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619226"/>
            <a:ext cx="3555950" cy="222914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950" y="2619226"/>
            <a:ext cx="3555950" cy="222914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500" y="2619226"/>
            <a:ext cx="3556099" cy="22291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438150"/>
            <a:ext cx="532316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Outfit"/>
              </a:rPr>
              <a:t>Multi-Mode Optical Interferometers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0893" y="490537"/>
            <a:ext cx="697706" cy="2762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33400" y="819150"/>
            <a:ext cx="114300" cy="2286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75" y="2876401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0575" y="3505051"/>
            <a:ext cx="319368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2–4 Mode Networks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575" y="3838426"/>
            <a:ext cx="304160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Supports small-scale linear optical networks combining multiple beam splitters and phase shifters.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5125" y="2876401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5125" y="3505051"/>
            <a:ext cx="319368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Sub-Matrix Embedding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5125" y="3838426"/>
            <a:ext cx="304160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Embeds 2-mode localized component operations into larger N-mode global unitary space via tensor expansion.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9675" y="2876401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59675" y="3505051"/>
            <a:ext cx="319383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Complete System Unitary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9675" y="3838426"/>
            <a:ext cx="3041749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Generates the complete transformation matrix representing the full multi-port interferometer network.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637" y="3009751"/>
            <a:ext cx="219075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8000" y="3009751"/>
            <a:ext cx="171450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93025" y="3009751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462635"/>
            <a:ext cx="1920180" cy="103137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580" y="3462635"/>
            <a:ext cx="1920180" cy="103137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5760" y="3462635"/>
            <a:ext cx="1920180" cy="103137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6941" y="3558480"/>
            <a:ext cx="1920180" cy="83953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8121" y="3462635"/>
            <a:ext cx="1920180" cy="10313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438150"/>
            <a:ext cx="549678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Outfit"/>
              </a:rPr>
              <a:t>Photonic to Quantum Circuit Mapping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60893" y="490537"/>
            <a:ext cx="697706" cy="2762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2973585"/>
            <a:ext cx="11125200" cy="250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QUANTA-SIM maps continuous optical mode transformations into discrete gate-based qubit quantum circuits for educational comparison.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400" y="819150"/>
            <a:ext cx="114300" cy="2286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5416" y="3662660"/>
            <a:ext cx="167614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1F5F9"/>
                </a:solidFill>
                <a:latin typeface="Outfit"/>
              </a:rPr>
              <a:t>Optical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325" y="3910310"/>
            <a:ext cx="1596330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Modes, Beam Splitters, Phase Shifters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7880" y="3906887"/>
            <a:ext cx="152400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956597" y="3662660"/>
            <a:ext cx="167614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1F5F9"/>
                </a:solidFill>
                <a:latin typeface="Outfit"/>
              </a:rPr>
              <a:t>Unitary Matrix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6505" y="3910310"/>
            <a:ext cx="1596330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Continuous matrix representation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9060" y="3906887"/>
            <a:ext cx="152400" cy="171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257777" y="3662660"/>
            <a:ext cx="167614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1F5F9"/>
                </a:solidFill>
                <a:latin typeface="Outfit"/>
              </a:rPr>
              <a:t>Circuit Analogue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7685" y="3910310"/>
            <a:ext cx="1596330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Qubit gates (Hadamard, RZ, CNOT)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0241" y="3906887"/>
            <a:ext cx="152400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558958" y="3758505"/>
            <a:ext cx="167614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1F5F9"/>
                </a:solidFill>
                <a:latin typeface="Outfit"/>
              </a:rPr>
              <a:t>Qiskit Simulation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98866" y="4006155"/>
            <a:ext cx="1596330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Digital state vector &amp; shots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1421" y="3906887"/>
            <a:ext cx="152400" cy="1714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860138" y="3662660"/>
            <a:ext cx="167614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1F5F9"/>
                </a:solidFill>
                <a:latin typeface="Outfit"/>
              </a:rPr>
              <a:t>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0046" y="3910310"/>
            <a:ext cx="1596330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Cross-validate output probabilities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924050"/>
            <a:ext cx="541972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400" y="438150"/>
            <a:ext cx="564758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Outfit"/>
              </a:rPr>
              <a:t>Quantum Circuit Simulation with Qiskit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0893" y="490537"/>
            <a:ext cx="697706" cy="27622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33400" y="819150"/>
            <a:ext cx="114300" cy="2286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933575"/>
            <a:ext cx="5400675" cy="3600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0100" y="2530078"/>
            <a:ext cx="515302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F1F5F9"/>
                </a:solidFill>
                <a:latin typeface="Plus Jakarta Sans SemiBold"/>
              </a:rPr>
              <a:t>Qiskit Integration: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Builds equivalent quantum circuit analogues using standard gate primitives.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165276"/>
            <a:ext cx="515302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F1F5F9"/>
                </a:solidFill>
                <a:latin typeface="Plus Jakarta Sans SemiBold"/>
              </a:rPr>
              <a:t>State Evolution: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Simulates qubit state evolution under unitary quantum gates.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800475"/>
            <a:ext cx="515302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F1F5F9"/>
                </a:solidFill>
                <a:latin typeface="Plus Jakarta Sans SemiBold"/>
              </a:rPr>
              <a:t>Circuit Visualization: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Renders visual quantum circuit diagrams dynamically.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4435673"/>
            <a:ext cx="515302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F1F5F9"/>
                </a:solidFill>
                <a:latin typeface="Plus Jakarta Sans SemiBold"/>
              </a:rPr>
              <a:t>Probability Validation: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Verifies digital quantum state probability outputs against exact optical models.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2549128"/>
            <a:ext cx="8572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184326"/>
            <a:ext cx="8572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819525"/>
            <a:ext cx="85725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454723"/>
            <a:ext cx="857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481262"/>
            <a:ext cx="11125200" cy="2505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400" y="438150"/>
            <a:ext cx="5563976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Outfit"/>
              </a:rPr>
              <a:t>Optical vs Quantum Circuit Simulation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0893" y="490537"/>
            <a:ext cx="697706" cy="27622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33400" y="819150"/>
            <a:ext cx="114300" cy="2286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2925" y="2490787"/>
          <a:ext cx="11106148" cy="2486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0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0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8FAFC"/>
                          </a:solidFill>
                          <a:latin typeface="Plus Jakarta Sans SemiBold"/>
                        </a:rPr>
                        <a:t>Feature / Metric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8FAFC"/>
                          </a:solidFill>
                          <a:latin typeface="Plus Jakarta Sans SemiBold"/>
                        </a:rPr>
                        <a:t>Optical Simulation 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8FAFC"/>
                          </a:solidFill>
                          <a:latin typeface="Plus Jakarta Sans SemiBold"/>
                        </a:rPr>
                        <a:t>Digital Quantum Circuit Analogue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State Basis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Optical Spatial Modes &amp; Photons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Qubit State Vectors (|0›, |1›)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Core Operator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Unitary Optical Matrices (BS, PS)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Quantum Gates (Hadamard, Phase RZ)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Circuit Metrics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Optical path depth &amp; component count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Qubit count, gate depth, CNOT count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Simulation Target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Exact continuous complex amplitude math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Digital shot-based measurement sampling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2925" y="3000375"/>
            <a:ext cx="216440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07332" y="3000375"/>
            <a:ext cx="447079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78129" y="3000375"/>
            <a:ext cx="447094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2925" y="3495675"/>
            <a:ext cx="216440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07332" y="3495675"/>
            <a:ext cx="447079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78129" y="3495675"/>
            <a:ext cx="447094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2925" y="3990975"/>
            <a:ext cx="216440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07332" y="3990975"/>
            <a:ext cx="447079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178129" y="3990975"/>
            <a:ext cx="447094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2925" y="4486275"/>
            <a:ext cx="216440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07332" y="4486275"/>
            <a:ext cx="447079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178129" y="4486275"/>
            <a:ext cx="447094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519017"/>
            <a:ext cx="11125200" cy="75054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197893"/>
            <a:ext cx="5419725" cy="213062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221706"/>
            <a:ext cx="5419725" cy="208299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575" y="2836068"/>
            <a:ext cx="4905375" cy="590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6050" y="2859881"/>
            <a:ext cx="4905375" cy="5429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438150"/>
            <a:ext cx="3673271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Outfit"/>
              </a:rPr>
              <a:t>Noise and Imperfections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60893" y="490537"/>
            <a:ext cx="697706" cy="2762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3400" y="819150"/>
            <a:ext cx="114300" cy="2286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0575" y="4776192"/>
            <a:ext cx="10610850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sz="1200" b="0" i="0" u="none">
                <a:solidFill>
                  <a:srgbClr val="F1F5F9"/>
                </a:solidFill>
                <a:latin typeface="Plus Jakarta Sans SemiBold"/>
              </a:rPr>
              <a:t>Impact Analysis: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Enables direct comparison of ideal vs imperfect output distributions, measuring degradation in interference fringe visibility.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575" y="2455068"/>
            <a:ext cx="5150643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Phase Noise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575" y="3569493"/>
            <a:ext cx="490537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Simulates optical phase drift and environmental phase fluctuations over 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6050" y="2478881"/>
            <a:ext cx="5150643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Beam-Splitter Parameter 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6050" y="3545681"/>
            <a:ext cx="490537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Models manufacturing tolerances and physical coupling ratio imperfections.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32037" y="3036093"/>
            <a:ext cx="1022449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8320" y="3059906"/>
            <a:ext cx="96068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204418"/>
            <a:ext cx="1920180" cy="105861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580" y="3204418"/>
            <a:ext cx="1920180" cy="105861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5760" y="3204418"/>
            <a:ext cx="1920180" cy="105861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6941" y="3204418"/>
            <a:ext cx="1920180" cy="105861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8121" y="3204418"/>
            <a:ext cx="1920180" cy="10586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438150"/>
            <a:ext cx="3118827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Outfit"/>
              </a:rPr>
              <a:t>System Architecture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0893" y="490537"/>
            <a:ext cx="697706" cy="2762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3400" y="819150"/>
            <a:ext cx="114300" cy="2286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5325" y="3404443"/>
            <a:ext cx="159633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38BDF8"/>
                </a:solidFill>
                <a:latin typeface="Fira Code"/>
              </a:rPr>
              <a:t>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416" y="3623518"/>
            <a:ext cx="167614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1F5F9"/>
                </a:solidFill>
                <a:latin typeface="Outfit"/>
              </a:rPr>
              <a:t>User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325" y="3871168"/>
            <a:ext cx="1596330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Circuit setup &amp; parameters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7880" y="3662213"/>
            <a:ext cx="152400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996505" y="3404443"/>
            <a:ext cx="159633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38BDF8"/>
                </a:solidFill>
                <a:latin typeface="Fira Code"/>
              </a:rPr>
              <a:t>BUILDER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6597" y="3623518"/>
            <a:ext cx="167614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1F5F9"/>
                </a:solidFill>
                <a:latin typeface="Outfit"/>
              </a:rPr>
              <a:t>Optical Builder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6505" y="3871168"/>
            <a:ext cx="1596330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Constructs component list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9060" y="3662213"/>
            <a:ext cx="152400" cy="1714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97685" y="3404443"/>
            <a:ext cx="159633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38BDF8"/>
                </a:solidFill>
                <a:latin typeface="Fira Code"/>
              </a:rPr>
              <a:t>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777" y="3623518"/>
            <a:ext cx="167614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1F5F9"/>
                </a:solidFill>
                <a:latin typeface="Outfit"/>
              </a:rPr>
              <a:t>Unitary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97685" y="3871168"/>
            <a:ext cx="1596330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Multiplies matrices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0241" y="3662213"/>
            <a:ext cx="152400" cy="1714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598866" y="3404443"/>
            <a:ext cx="159633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38BDF8"/>
                </a:solidFill>
                <a:latin typeface="Fira Code"/>
              </a:rPr>
              <a:t>SIMULATION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8958" y="3623518"/>
            <a:ext cx="167614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1F5F9"/>
                </a:solidFill>
                <a:latin typeface="Outfit"/>
              </a:rPr>
              <a:t>Photon / Qiskit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98866" y="3871168"/>
            <a:ext cx="1596330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Runs optical &amp; circuit math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1421" y="3662213"/>
            <a:ext cx="152400" cy="1714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900046" y="3404443"/>
            <a:ext cx="159633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38BDF8"/>
                </a:solidFill>
                <a:latin typeface="Fira Code"/>
              </a:rPr>
              <a:t>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60138" y="3623518"/>
            <a:ext cx="167614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1F5F9"/>
                </a:solidFill>
                <a:latin typeface="Outfit"/>
              </a:rPr>
              <a:t>Visualization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0046" y="3871168"/>
            <a:ext cx="1596330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Renders charts &amp; graphs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288976"/>
            <a:ext cx="2638425" cy="134957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2325" y="2288976"/>
            <a:ext cx="2638425" cy="134957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2288976"/>
            <a:ext cx="2638425" cy="134957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0175" y="2288976"/>
            <a:ext cx="2638425" cy="134957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829050"/>
            <a:ext cx="2638425" cy="134957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2325" y="3829050"/>
            <a:ext cx="2638425" cy="134957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3829050"/>
            <a:ext cx="2638425" cy="1349573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0175" y="3829050"/>
            <a:ext cx="2638425" cy="13495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438150"/>
            <a:ext cx="2494374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Outfit"/>
              </a:rPr>
              <a:t>Project Modules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0893" y="490537"/>
            <a:ext cx="697706" cy="27622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33400" y="819150"/>
            <a:ext cx="114300" cy="2286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0575" y="2546151"/>
            <a:ext cx="2230278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Optical Components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575" y="2879526"/>
            <a:ext cx="212407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Beam splitters and phase shifters.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9500" y="2546151"/>
            <a:ext cx="2230278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Interferometer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9500" y="2879526"/>
            <a:ext cx="212407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MZI and multi-mode networks.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8425" y="2546151"/>
            <a:ext cx="2230278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Photon Simulation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8425" y="2879526"/>
            <a:ext cx="212407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Single and 2-photon states.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7350" y="2546151"/>
            <a:ext cx="2230278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Quantum Circuit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7350" y="2879526"/>
            <a:ext cx="212407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Selected Qiskit representations.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575" y="4086225"/>
            <a:ext cx="2230278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Noise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575" y="4419600"/>
            <a:ext cx="212407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Controlled parameter imperfections.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9500" y="4086225"/>
            <a:ext cx="2230278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Visualization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9500" y="4419600"/>
            <a:ext cx="212407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Graphs and probability plots.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8425" y="4086225"/>
            <a:ext cx="2230278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User Interface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8425" y="4419600"/>
            <a:ext cx="212407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Interactive Streamlit experiment GUI.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7350" y="4086225"/>
            <a:ext cx="2230278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Core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77350" y="4419600"/>
            <a:ext cx="2124075" cy="250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Unified data flow engine.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515814"/>
            <a:ext cx="3555950" cy="197822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950" y="1515814"/>
            <a:ext cx="3555950" cy="197822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500" y="1515814"/>
            <a:ext cx="3556099" cy="197822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722637"/>
            <a:ext cx="3555950" cy="222914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3722637"/>
            <a:ext cx="3555950" cy="222914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2500" y="3722637"/>
            <a:ext cx="3556099" cy="22291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438150"/>
            <a:ext cx="3693274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Outfit"/>
              </a:rPr>
              <a:t>Software &amp; Technologies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0893" y="490537"/>
            <a:ext cx="697706" cy="27622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33400" y="819150"/>
            <a:ext cx="114300" cy="2286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575" y="1772989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0575" y="2401639"/>
            <a:ext cx="319368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575" y="2735014"/>
            <a:ext cx="304160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Main programming language powering the simulation core.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5125" y="1772989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5125" y="2401639"/>
            <a:ext cx="319368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NumPy &amp; SciPy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5125" y="2735014"/>
            <a:ext cx="304160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Complex matrix multiplication and advanced linear algebra routines.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9675" y="1772989"/>
            <a:ext cx="457200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59675" y="2401639"/>
            <a:ext cx="319383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Matplotlib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9675" y="2735014"/>
            <a:ext cx="3041749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High-quality plots for interference fringes and state counts.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3979812"/>
            <a:ext cx="457200" cy="457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90575" y="4608462"/>
            <a:ext cx="319368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Qiskit &amp; Qiskit Aer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575" y="4941837"/>
            <a:ext cx="304160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Quantum circuit construction, synthesis, and execution.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5125" y="3979812"/>
            <a:ext cx="457200" cy="457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575125" y="4608462"/>
            <a:ext cx="319368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Streamlit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5125" y="4941837"/>
            <a:ext cx="304160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Interactive Web UI for real-time parameter tweaking.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59675" y="3979812"/>
            <a:ext cx="457200" cy="457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359675" y="4608462"/>
            <a:ext cx="319383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Tech Stack Synergy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9675" y="4941837"/>
            <a:ext cx="3041749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Seamless Python-native stack designed for rapid scientific computing.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3450" y="1906339"/>
            <a:ext cx="171450" cy="1905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32287" y="1906339"/>
            <a:ext cx="142875" cy="1905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93025" y="1906339"/>
            <a:ext cx="190500" cy="1905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3925" y="4113162"/>
            <a:ext cx="190500" cy="1905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94187" y="4113162"/>
            <a:ext cx="219075" cy="1905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69213" y="4113162"/>
            <a:ext cx="23812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269926"/>
            <a:ext cx="3555950" cy="134957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950" y="2269926"/>
            <a:ext cx="3555950" cy="134957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500" y="2269926"/>
            <a:ext cx="3556099" cy="134957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848100"/>
            <a:ext cx="3555950" cy="134957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950" y="3848100"/>
            <a:ext cx="3555950" cy="134957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500" y="3848100"/>
            <a:ext cx="3556099" cy="13495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438150"/>
            <a:ext cx="3713276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Outfit"/>
              </a:rPr>
              <a:t>Expected Visual Outputs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0893" y="490537"/>
            <a:ext cx="697706" cy="27622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33400" y="819150"/>
            <a:ext cx="114300" cy="2286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0575" y="2527101"/>
            <a:ext cx="319368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Probability Graphs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575" y="2860476"/>
            <a:ext cx="304160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Phase vs output-probability curves demonstrating smooth interference.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5125" y="2527101"/>
            <a:ext cx="319368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Interference Patterns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5125" y="2860476"/>
            <a:ext cx="304160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Visual representation of constructive and destructive regions.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9675" y="2527101"/>
            <a:ext cx="319383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Distribution Charts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9675" y="2860476"/>
            <a:ext cx="3041749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Histograms displaying single and multi-photon output counts.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575" y="4105275"/>
            <a:ext cx="319368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Circuit Schematics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575" y="4438650"/>
            <a:ext cx="304160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Clean schematic layouts of designed optical mode networks.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5125" y="4105275"/>
            <a:ext cx="319368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Unitary Heatmaps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5125" y="4438650"/>
            <a:ext cx="304160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Color-coded heatmaps of complete system unitary matrices.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9675" y="4105275"/>
            <a:ext cx="319383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Qiskit Circuit Diagrams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9675" y="4438650"/>
            <a:ext cx="3041749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Generated digital quantum gate diagrams for comparison.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924050"/>
            <a:ext cx="541972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400" y="438150"/>
            <a:ext cx="5700399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Outfit"/>
              </a:rPr>
              <a:t>Example Experiment: MZI Interference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0893" y="490537"/>
            <a:ext cx="697706" cy="27622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33400" y="819150"/>
            <a:ext cx="114300" cy="2286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933575"/>
            <a:ext cx="5400675" cy="3600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0100" y="2714327"/>
            <a:ext cx="5153025" cy="250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F1F5F9"/>
                </a:solidFill>
                <a:latin typeface="Plus Jakarta Sans SemiBold"/>
              </a:rPr>
              <a:t>Step 1: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Launch single photon into optical mode 0: 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098601"/>
            <a:ext cx="5153025" cy="250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F1F5F9"/>
                </a:solidFill>
                <a:latin typeface="Plus Jakarta Sans SemiBold"/>
              </a:rPr>
              <a:t>Step 2: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Sweep internal phase shift continuously from 0 to 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482875"/>
            <a:ext cx="5153025" cy="250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F1F5F9"/>
                </a:solidFill>
                <a:latin typeface="Plus Jakarta Sans SemiBold"/>
              </a:rPr>
              <a:t>Step 3: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Compute output probabilities at both detector ports.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867150"/>
            <a:ext cx="5153025" cy="250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F1F5F9"/>
                </a:solidFill>
                <a:latin typeface="Plus Jakarta Sans SemiBold"/>
              </a:rPr>
              <a:t>Step 4: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Plot detector probability as a function of phase angle 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4251424"/>
            <a:ext cx="515302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F1F5F9"/>
                </a:solidFill>
                <a:latin typeface="Plus Jakarta Sans SemiBold"/>
              </a:rPr>
              <a:t>Insight: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Observe perfect sinusoidal fringes revealing constructive/destructive interference.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2733377"/>
            <a:ext cx="8572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0575" y="2771477"/>
            <a:ext cx="722858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117651"/>
            <a:ext cx="85725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8525" y="3193851"/>
            <a:ext cx="120997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59747" y="3155751"/>
            <a:ext cx="210591" cy="1333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501925"/>
            <a:ext cx="85725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886200"/>
            <a:ext cx="85725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95925" y="3962400"/>
            <a:ext cx="120997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270474"/>
            <a:ext cx="857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525464"/>
            <a:ext cx="5419725" cy="24166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540793"/>
            <a:ext cx="5419725" cy="23860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900" y="2931318"/>
            <a:ext cx="5019675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438150"/>
            <a:ext cx="6905706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Outfit"/>
              </a:rPr>
              <a:t>Example Experiment: Two-Photon Interference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0893" y="490537"/>
            <a:ext cx="697706" cy="2762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33400" y="819150"/>
            <a:ext cx="114300" cy="2286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0575" y="2782639"/>
            <a:ext cx="5150643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Experimental Protocol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8900" y="3731418"/>
            <a:ext cx="50196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CBD5E1"/>
                </a:solidFill>
                <a:latin typeface="Plus Jakarta Sans SemiBold"/>
              </a:rPr>
              <a:t>|2,0› : |1,1› : |0,2› Output Ratio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4093368"/>
            <a:ext cx="5019675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743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Quantum interference completely cancels the coincidence state 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275" y="3163639"/>
            <a:ext cx="4638675" cy="250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Prepare two-photon input Fock state: 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275" y="3547913"/>
            <a:ext cx="463867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Direct photons simultaneously into a 50:50 beam splitter model.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7275" y="4183112"/>
            <a:ext cx="463867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Calculate exact quantum amplitudes for output states: , , and 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8183" y="4352925"/>
            <a:ext cx="722858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575" y="3182689"/>
            <a:ext cx="85725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0500" y="3220789"/>
            <a:ext cx="722858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575" y="3566963"/>
            <a:ext cx="85725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575" y="4202162"/>
            <a:ext cx="85725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275" y="4491186"/>
            <a:ext cx="722858" cy="180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56333" y="4491186"/>
            <a:ext cx="722858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79241" y="4491186"/>
            <a:ext cx="722858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933551"/>
            <a:ext cx="3555950" cy="160049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950" y="2933551"/>
            <a:ext cx="3555950" cy="160049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2500" y="2933551"/>
            <a:ext cx="3556099" cy="16004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438150"/>
            <a:ext cx="3218839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Outfit"/>
              </a:rPr>
              <a:t>Research Connection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0893" y="490537"/>
            <a:ext cx="697706" cy="2762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33400" y="819150"/>
            <a:ext cx="114300" cy="2286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0575" y="3190726"/>
            <a:ext cx="319368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Linear Optical Literature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575" y="3524101"/>
            <a:ext cx="304160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Based on foundational quantum optics literature studying linear optical networks via unitary transformations.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5125" y="3190726"/>
            <a:ext cx="319368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Digital Circuit 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5125" y="3524101"/>
            <a:ext cx="304160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Motivated by modern efforts to map physical optical interferometers to gate-based quantum computers.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9675" y="3190726"/>
            <a:ext cx="319383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Educational Adaptation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9675" y="3524101"/>
            <a:ext cx="3041749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Distills complex quantum theoretical concepts into a lightweight, hands-on software prototype.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619226"/>
            <a:ext cx="3555950" cy="222914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950" y="2619226"/>
            <a:ext cx="3555950" cy="222914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500" y="2619226"/>
            <a:ext cx="3556099" cy="22291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438150"/>
            <a:ext cx="554600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Outfit"/>
              </a:rPr>
              <a:t>What Makes QUANTA-SIM Different?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0893" y="490537"/>
            <a:ext cx="697706" cy="2762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33400" y="819150"/>
            <a:ext cx="114300" cy="2286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75" y="2876401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0575" y="3505051"/>
            <a:ext cx="319368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Multidisciplinary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575" y="3838426"/>
            <a:ext cx="304160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Combines physics, linear algebra, and computer science seamlessly into a unified suite.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5125" y="2876401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5125" y="3505051"/>
            <a:ext cx="319368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Visual Focus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5125" y="3838426"/>
            <a:ext cx="304160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Prioritizes intuitive visual understanding of complex optical quantum interference.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9675" y="2876401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59675" y="3505051"/>
            <a:ext cx="319383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Realistic Modeling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9675" y="3838426"/>
            <a:ext cx="3041749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Supports both ideal analytical systems and noise-corrupted physical models.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112" y="3009751"/>
            <a:ext cx="238125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94187" y="3009751"/>
            <a:ext cx="219075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93025" y="3009751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" y="438150"/>
            <a:ext cx="2885204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Outfit"/>
              </a:rPr>
              <a:t>Project Challenges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0893" y="490537"/>
            <a:ext cx="697706" cy="27622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3400" y="819150"/>
            <a:ext cx="114300" cy="2286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0100" y="2847230"/>
            <a:ext cx="515302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F1F5F9"/>
                </a:solidFill>
                <a:latin typeface="Plus Jakarta Sans SemiBold"/>
              </a:rPr>
              <a:t>State Space Complexity: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Efficiently representing multi-photon Fock state spaces as mode count grows.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3482429"/>
            <a:ext cx="515302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F1F5F9"/>
                </a:solidFill>
                <a:latin typeface="Plus Jakarta Sans SemiBold"/>
              </a:rPr>
              <a:t>Numerical Precision: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Preserving exact phase information with complex matrix math.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4117627"/>
            <a:ext cx="5153025" cy="502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F1F5F9"/>
                </a:solidFill>
                <a:latin typeface="Plus Jakarta Sans SemiBold"/>
              </a:rPr>
              <a:t>Unitarity Preservation: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Ensuring cascaded component transformations remain strictly unitary ( 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5575" y="3165276"/>
            <a:ext cx="515302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F1F5F9"/>
                </a:solidFill>
                <a:latin typeface="Plus Jakarta Sans SemiBold"/>
              </a:rPr>
              <a:t>Mapping Accuracy: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Constructing accurate digital quantum circuit analogues for continuous optical transformations.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5575" y="3800475"/>
            <a:ext cx="515302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F1F5F9"/>
                </a:solidFill>
                <a:latin typeface="Plus Jakarta Sans SemiBold"/>
              </a:rPr>
              <a:t>Scope Control: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Maintaining precision while ensuring manageable scope for a beginner prototype.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866280"/>
            <a:ext cx="8572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501479"/>
            <a:ext cx="8572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136677"/>
            <a:ext cx="8572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9050" y="4368551"/>
            <a:ext cx="719732" cy="191392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3184326"/>
            <a:ext cx="85725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3819525"/>
            <a:ext cx="857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241351"/>
            <a:ext cx="5419725" cy="134957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241351"/>
            <a:ext cx="5419725" cy="134957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876675"/>
            <a:ext cx="5419725" cy="134957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3876675"/>
            <a:ext cx="5419725" cy="13495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438150"/>
            <a:ext cx="3266033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Outfit"/>
              </a:rPr>
              <a:t>Simulator Limitations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0893" y="490537"/>
            <a:ext cx="697706" cy="27622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33400" y="819150"/>
            <a:ext cx="114300" cy="2286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0575" y="2498526"/>
            <a:ext cx="5150643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Mode &amp; Photon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575" y="2831901"/>
            <a:ext cx="490537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Prototype focuses on small scale networks (2–4 optical modes, 1–2 photons).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6050" y="2498526"/>
            <a:ext cx="5150643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Simplified Noise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6050" y="2831901"/>
            <a:ext cx="490537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Noise models use parameterized distributions rather than full experimental hardware dynamics.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575" y="4133850"/>
            <a:ext cx="5150643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Selected Mappings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575" y="4467225"/>
            <a:ext cx="490537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Optical-to-quantum circuit mapping covers selected small systems rather than universal compilers.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6050" y="4133850"/>
            <a:ext cx="5150643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Simulation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6050" y="4467225"/>
            <a:ext cx="490537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Acts purely as a computational simulator and does not replace actual physical optical benches.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933551"/>
            <a:ext cx="3555950" cy="160049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950" y="2933551"/>
            <a:ext cx="3555950" cy="160049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500" y="2933551"/>
            <a:ext cx="3556099" cy="16004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438150"/>
            <a:ext cx="3779691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Outfit"/>
              </a:rPr>
              <a:t>Future Scope &amp; Roadmap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0893" y="490537"/>
            <a:ext cx="697706" cy="2762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33400" y="819150"/>
            <a:ext cx="114300" cy="2286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0575" y="3190726"/>
            <a:ext cx="319368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Scale &amp; Boson Sampling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575" y="3524101"/>
            <a:ext cx="304160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Expand mode count and explore non-trivial Boson Sampling computational demonstrations.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5125" y="3190726"/>
            <a:ext cx="319368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Matrix Decompositions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5125" y="3524101"/>
            <a:ext cx="304160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Implement Reck and Clements algorithms for arbitrary optical interferometer synthesis.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9675" y="3190726"/>
            <a:ext cx="319383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Loss &amp; Hardware Hardware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9675" y="3524101"/>
            <a:ext cx="3041749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Incorporate photon loss, detector dead-times, and execute circuits on cloud quantum hardware.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619226"/>
            <a:ext cx="3555950" cy="222914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950" y="2619226"/>
            <a:ext cx="3555950" cy="222914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500" y="2619226"/>
            <a:ext cx="3556099" cy="22291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438150"/>
            <a:ext cx="3499656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Outfit"/>
              </a:rPr>
              <a:t>Final Expected Product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0893" y="490537"/>
            <a:ext cx="697706" cy="2762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33400" y="819150"/>
            <a:ext cx="114300" cy="2286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75" y="2876401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0575" y="3505051"/>
            <a:ext cx="319368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Interactive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575" y="3838426"/>
            <a:ext cx="304160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Full-fledged Streamlit web application with configurable optical components.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5125" y="2876401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5125" y="3505051"/>
            <a:ext cx="319368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Simulation &amp;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5125" y="3838426"/>
            <a:ext cx="304160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Single &amp; 2-photon simulation engine with visual probability outputs &amp; noise analysis.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9675" y="2876401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59675" y="3505051"/>
            <a:ext cx="319383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utfit SemiBold"/>
              </a:rPr>
              <a:t>Quantum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9675" y="3838426"/>
            <a:ext cx="3041749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Direct visual comparison connecting linear optics with Qiskit quantum circuit representations.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112" y="3009751"/>
            <a:ext cx="238125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8475" y="3009751"/>
            <a:ext cx="190500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8738" y="3009751"/>
            <a:ext cx="21907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781300"/>
            <a:ext cx="5419725" cy="1905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3171825"/>
            <a:ext cx="5019675" cy="76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438150"/>
            <a:ext cx="1756313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Outfit"/>
              </a:rPr>
              <a:t>Conclusion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0893" y="490537"/>
            <a:ext cx="697706" cy="27622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33400" y="819150"/>
            <a:ext cx="114300" cy="2286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3400" y="2574726"/>
            <a:ext cx="5419725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F1F5F9"/>
                </a:solidFill>
                <a:latin typeface="Plus Jakarta Sans SemiBold"/>
              </a:rPr>
              <a:t>QUANTA-SIM</a:t>
            </a:r>
            <a:r>
              <a:rPr sz="1650" b="0" i="0" u="none">
                <a:solidFill>
                  <a:srgbClr val="F8FAFC"/>
                </a:solidFill>
                <a:latin typeface="Plus Jakarta Sans"/>
              </a:rPr>
              <a:t> bridges the gap between quantum optics and digital quantum computing through intuitive computational simulation.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8900" y="4076700"/>
            <a:ext cx="50196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8BDF8"/>
                </a:solidFill>
                <a:latin typeface="Plus Jakarta Sans SemiBold"/>
              </a:rPr>
              <a:t>QUANTA-SIM Quantum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755826"/>
            <a:ext cx="515302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Enables users to construct, simulate, analyze, and visualize physical photonic quantum systems.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4391025"/>
            <a:ext cx="515302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Unifies quantum mechanics, linear algebra, Python software engineering, and Qiskit circuit modeling.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774876"/>
            <a:ext cx="8572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410075"/>
            <a:ext cx="85725" cy="1428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1843</Words>
  <Application>Microsoft Office PowerPoint</Application>
  <PresentationFormat>Widescreen</PresentationFormat>
  <Paragraphs>284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</vt:lpstr>
      <vt:lpstr>Calibri</vt:lpstr>
      <vt:lpstr>Fira Code</vt:lpstr>
      <vt:lpstr>Outfit</vt:lpstr>
      <vt:lpstr>Outfit ExtraBold</vt:lpstr>
      <vt:lpstr>Outfit SemiBold</vt:lpstr>
      <vt:lpstr>Plus Jakarta Sans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Kinjal Sarkar</dc:creator>
  <cp:keywords/>
  <dc:description>generated using python-pptx</dc:description>
  <cp:lastModifiedBy>Kinjal Sarkar</cp:lastModifiedBy>
  <cp:revision>2</cp:revision>
  <dcterms:created xsi:type="dcterms:W3CDTF">2013-01-27T09:14:16Z</dcterms:created>
  <dcterms:modified xsi:type="dcterms:W3CDTF">2026-08-27T13:58:41Z</dcterms:modified>
  <cp:category/>
</cp:coreProperties>
</file>